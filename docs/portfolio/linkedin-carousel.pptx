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3900e081fa439c" /><Relationship Type="http://schemas.openxmlformats.org/officeDocument/2006/relationships/extended-properties" Target="/docProps/app.xml" Id="R8afef8cc2ede435b" /><Relationship Type="http://schemas.openxmlformats.org/officeDocument/2006/relationships/officeDocument" Target="/ppt/presentation.xml" Id="Rf70ddfc0ed4a42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2aa7afc2264717"/>
  </p:sldMasterIdLst>
  <p:notesMasterIdLst>
    <p:notesMasterId xmlns:r="http://schemas.openxmlformats.org/officeDocument/2006/relationships" r:id="R044fd2224a574b61"/>
  </p:notesMasterIdLst>
  <p:sldIdLst>
    <p:sldId xmlns:r="http://schemas.openxmlformats.org/officeDocument/2006/relationships" id="256" r:id="Rd9413d0da0ef4dfc"/>
    <p:sldId xmlns:r="http://schemas.openxmlformats.org/officeDocument/2006/relationships" id="257" r:id="Rc51cb63df9734007"/>
    <p:sldId xmlns:r="http://schemas.openxmlformats.org/officeDocument/2006/relationships" id="258" r:id="R53281d0566d64f9b"/>
    <p:sldId xmlns:r="http://schemas.openxmlformats.org/officeDocument/2006/relationships" id="259" r:id="R71b7d99914314828"/>
    <p:sldId xmlns:r="http://schemas.openxmlformats.org/officeDocument/2006/relationships" id="260" r:id="Re164659433dd4b0a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f4ce7b56f74c68" /><Relationship Type="http://schemas.openxmlformats.org/officeDocument/2006/relationships/slideMaster" Target="/ppt/slideMasters/slideMaster1.xml" Id="Rd02aa7afc2264717" /><Relationship Type="http://schemas.openxmlformats.org/officeDocument/2006/relationships/notesMaster" Target="/ppt/notesMasters/notesMaster1.xml" Id="R044fd2224a574b61" /><Relationship Type="http://schemas.openxmlformats.org/officeDocument/2006/relationships/presProps" Target="/ppt/presProps.xml" Id="R1f97cdf9b70142dd" /><Relationship Type="http://schemas.openxmlformats.org/officeDocument/2006/relationships/tableStyles" Target="/ppt/tableStyles.xml" Id="R5eca6acc0b654b88" /><Relationship Type="http://schemas.openxmlformats.org/officeDocument/2006/relationships/slide" Target="/ppt/slides/slide1.xml" Id="Rd9413d0da0ef4dfc" /><Relationship Type="http://schemas.openxmlformats.org/officeDocument/2006/relationships/slide" Target="/ppt/slides/slide2.xml" Id="Rc51cb63df9734007" /><Relationship Type="http://schemas.openxmlformats.org/officeDocument/2006/relationships/slide" Target="/ppt/slides/slide3.xml" Id="R53281d0566d64f9b" /><Relationship Type="http://schemas.openxmlformats.org/officeDocument/2006/relationships/slide" Target="/ppt/slides/slide4.xml" Id="R71b7d99914314828" /><Relationship Type="http://schemas.openxmlformats.org/officeDocument/2006/relationships/slide" Target="/ppt/slides/slide5.xml" Id="Re164659433dd4b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8cb3d6168a40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d9c3ca17924135" /><Relationship Type="http://schemas.openxmlformats.org/officeDocument/2006/relationships/notesMaster" Target="/ppt/notesMasters/notesMaster1.xml" Id="R6594674e00d34a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54b3e1b1b147e3" /><Relationship Type="http://schemas.openxmlformats.org/officeDocument/2006/relationships/notesMaster" Target="/ppt/notesMasters/notesMaster1.xml" Id="R016a3639836843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05c7d7d19a4abf" /><Relationship Type="http://schemas.openxmlformats.org/officeDocument/2006/relationships/notesMaster" Target="/ppt/notesMasters/notesMaster1.xml" Id="R88e413087b4245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013949a79c49e1" /><Relationship Type="http://schemas.openxmlformats.org/officeDocument/2006/relationships/notesMaster" Target="/ppt/notesMasters/notesMaster1.xml" Id="Rb2085f81ead843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c1fb5c0434472e" /><Relationship Type="http://schemas.openxmlformats.org/officeDocument/2006/relationships/notesMaster" Target="/ppt/notesMasters/notesMaster1.xml" Id="R893d267459da42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22659905234d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c0fa7a132949da" /><Relationship Type="http://schemas.openxmlformats.org/officeDocument/2006/relationships/slideLayout" Target="/ppt/slideLayouts/slideLayout1.xml" Id="R60025568d43d4e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025568d43d4e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6a390bd864f31" /><Relationship Type="http://schemas.openxmlformats.org/officeDocument/2006/relationships/notesSlide" Target="/ppt/notesSlides/notesSlide1.xml" Id="R6ca0e111af2742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4cb319cbe4b8c" /><Relationship Type="http://schemas.openxmlformats.org/officeDocument/2006/relationships/notesSlide" Target="/ppt/notesSlides/notesSlide2.xml" Id="R4c0c39391b374e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78fd51d254ffe" /><Relationship Type="http://schemas.openxmlformats.org/officeDocument/2006/relationships/notesSlide" Target="/ppt/notesSlides/notesSlide3.xml" Id="Rdce1c4981d6b49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06ec7a9f84559" /><Relationship Type="http://schemas.openxmlformats.org/officeDocument/2006/relationships/notesSlide" Target="/ppt/notesSlides/notesSlide4.xml" Id="Rf02a0a1a73964e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c651b90c34076" /><Relationship Type="http://schemas.openxmlformats.org/officeDocument/2006/relationships/notesSlide" Target="/ppt/notesSlides/notesSlide5.xml" Id="R9cd76087014b43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AF5260-6EAA-4849-B223-E3D6B896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D31E2-CA78-404B-A95A-F43E0720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5E5A"/>
                </a:solidFill>
              </a:defRPr>
            </a:pPr>
            <a:r>
              <a:rPr sz="1275" b="1">
                <a:solidFill>
                  <a:srgbClr val="235E5A"/>
                </a:solidFill>
              </a:rPr>
              <a:t>PORTFOLIO PROJECT · MICROSOFT AZURE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1DB75-D73A-4F7B-B96A-532136AB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76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72A43"/>
                </a:solidFill>
              </a:defRPr>
            </a:pPr>
            <a:r>
              <a:rPr sz="4950" b="1">
                <a:solidFill>
                  <a:srgbClr val="172A43"/>
                </a:solidFill>
              </a:rPr>
              <a:t>I built a governed</a:t>
            </a:r>
          </a:p>
          <a:p xmlns:a="http://schemas.openxmlformats.org/drawingml/2006/main">
            <a:pPr>
              <a:defRPr sz="4950" b="1">
                <a:solidFill>
                  <a:srgbClr val="172A43"/>
                </a:solidFill>
              </a:defRPr>
            </a:pPr>
            <a:r>
              <a:rPr sz="4950" b="1">
                <a:solidFill>
                  <a:srgbClr val="172A43"/>
                </a:solidFill>
              </a:rPr>
              <a:t>AI knowledge assistant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C2691-6B9F-45BA-BEE5-9D3B828F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809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6788F"/>
                </a:solidFill>
              </a:defRPr>
            </a:pPr>
            <a:r>
              <a:rPr sz="2100" b="0">
                <a:solidFill>
                  <a:srgbClr val="66788F"/>
                </a:solidFill>
              </a:rPr>
              <a:t>Useful answers — without giving every user access to every document.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014AE-9B6E-4396-81A0-FB6420D0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BC87BD-2594-4795-9FF3-D7EAB9E1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00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88F"/>
                </a:solidFill>
              </a:defRPr>
            </a:pPr>
            <a:r>
              <a:rPr sz="1200" b="1">
                <a:solidFill>
                  <a:srgbClr val="66788F"/>
                </a:solidFill>
              </a:rPr>
              <a:t>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B2B13-B547-4BEC-BE6E-82D472EA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800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47D78"/>
                </a:solidFill>
              </a:defRPr>
            </a:pPr>
            <a:r>
              <a:rPr sz="1875" b="1">
                <a:solidFill>
                  <a:srgbClr val="347D78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5D834-DED2-4F88-9A1E-57C690C4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800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88F"/>
                </a:solidFill>
              </a:defRPr>
            </a:pPr>
            <a:r>
              <a:rPr sz="1200" b="1">
                <a:solidFill>
                  <a:srgbClr val="66788F"/>
                </a:solidFill>
              </a:rPr>
              <a:t>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C81E9-3663-4BB6-8614-FF822330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800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47D78"/>
                </a:solidFill>
              </a:defRPr>
            </a:pPr>
            <a:r>
              <a:rPr sz="1875" b="1">
                <a:solidFill>
                  <a:srgbClr val="347D78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2EAE0-A80A-47E1-8FC0-EDC256C7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800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88F"/>
                </a:solidFill>
              </a:defRPr>
            </a:pPr>
            <a:r>
              <a:rPr sz="1200" b="1">
                <a:solidFill>
                  <a:srgbClr val="66788F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63A03-796F-435A-B37E-52F4D2F5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800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47D78"/>
                </a:solidFill>
              </a:defRPr>
            </a:pPr>
            <a:r>
              <a:rPr sz="1875" b="1">
                <a:solidFill>
                  <a:srgbClr val="347D78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6741F-8392-4C3D-9911-5C03B01E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8008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88F"/>
                </a:solidFill>
              </a:defRPr>
            </a:pPr>
            <a:r>
              <a:rPr sz="1200" b="1">
                <a:solidFill>
                  <a:srgbClr val="66788F"/>
                </a:solidFill>
              </a:rPr>
              <a:t>ANSWER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B31DCF-3BFB-410B-8F4A-61965607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58125"/>
            <a:ext cx="89154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7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32E4D0-8431-4669-9A2B-2BDD4522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34375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Access is decided before retrieval — not by the AI model.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ECDE3F-5044-4F30-9CD4-CE032777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572625"/>
            <a:ext cx="790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D7E7"/>
                </a:solidFill>
              </a:defRPr>
            </a:pPr>
            <a:r>
              <a:rPr sz="1350" b="0">
                <a:solidFill>
                  <a:srgbClr val="C9D7E7"/>
                </a:solidFill>
              </a:rPr>
              <a:t>Python · FastAPI · Entra ID · Azure App Service · Blob Storage · Bicep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4FF7A4-5DD5-4E0C-A806-157255A9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823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A43"/>
                </a:solidFill>
              </a:defRPr>
            </a:pPr>
            <a:r>
              <a:rPr sz="1650" b="1">
                <a:solidFill>
                  <a:srgbClr val="172A43"/>
                </a:solidFill>
              </a:rPr>
              <a:t>Janith Weerakkody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960891-8893-424F-B5DA-B22D56DB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5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88F"/>
                </a:solidFill>
              </a:defRPr>
            </a:pPr>
            <a:r>
              <a:rPr sz="1200" b="0">
                <a:solidFill>
                  <a:srgbClr val="66788F"/>
                </a:solidFill>
              </a:rPr>
              <a:t>AI Knowledge Assistant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721702-CBBA-4375-8D75-FEF68873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0777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88F"/>
                </a:solidFill>
              </a:defRPr>
            </a:pPr>
            <a:r>
              <a:rPr sz="1125" b="1">
                <a:solidFill>
                  <a:srgbClr val="66788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496532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BA5AF0-992E-4737-BA64-67CFCAB2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5E5A"/>
                </a:solidFill>
              </a:defRPr>
            </a:pPr>
            <a:r>
              <a:rPr sz="1275" b="1">
                <a:solidFill>
                  <a:srgbClr val="235E5A"/>
                </a:solidFill>
              </a:rPr>
              <a:t>THE BUSINESS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A1D20-DD44-43DD-9900-153DB583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915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A43"/>
                </a:solidFill>
              </a:defRPr>
            </a:pPr>
            <a:r>
              <a:rPr sz="3600" b="1">
                <a:solidFill>
                  <a:srgbClr val="172A43"/>
                </a:solidFill>
              </a:rPr>
              <a:t>A useful assistant also needs to know when not to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944ED-F4C6-4B52-A1FA-CE9064B0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788F"/>
                </a:solidFill>
              </a:defRPr>
            </a:pPr>
            <a:r>
              <a:rPr sz="1800" b="0">
                <a:solidFill>
                  <a:srgbClr val="66788F"/>
                </a:solidFill>
              </a:rPr>
              <a:t>The same question can produce three safe outcomes, depending on identity, permission and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00D5A-211D-4317-A36D-AEFE00EB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9D23D-B5F4-4B04-9AFA-B2ED7190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4C101-569C-4879-8256-1ACD5D72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2481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35E5A"/>
                </a:solidFill>
              </a:defRPr>
            </a:pPr>
            <a:r>
              <a:rPr sz="2100" b="1">
                <a:solidFill>
                  <a:srgbClr val="235E5A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DD2F8-17A2-4E85-8F4B-27935221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76700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A43"/>
                </a:solidFill>
              </a:defRPr>
            </a:pPr>
            <a:r>
              <a:rPr sz="2325" b="1">
                <a:solidFill>
                  <a:srgbClr val="172A43"/>
                </a:solidFill>
              </a:rPr>
              <a:t>Grounded answer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B1332-340D-40DE-9172-46613042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19625"/>
            <a:ext cx="733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88F"/>
                </a:solidFill>
              </a:defRPr>
            </a:pPr>
            <a:r>
              <a:rPr sz="1650" b="0">
                <a:solidFill>
                  <a:srgbClr val="66788F"/>
                </a:solidFill>
              </a:rPr>
              <a:t>The user is authorised and the answer includes a source citation.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54B3FF-3788-4A83-8773-EC53703F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C7A9B-D043-4704-A522-84A1FA13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8E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02890-039E-4EF8-B3C5-72D3577E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3436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7473F"/>
                </a:solidFill>
              </a:defRPr>
            </a:pPr>
            <a:r>
              <a:rPr sz="2100" b="1">
                <a:solidFill>
                  <a:srgbClr val="A7473F"/>
                </a:solidFill>
              </a:rPr>
              <a:t>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2BDCE-C040-4676-9FFD-5B52BD56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172200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A43"/>
                </a:solidFill>
              </a:defRPr>
            </a:pPr>
            <a:r>
              <a:rPr sz="2325" b="1">
                <a:solidFill>
                  <a:srgbClr val="172A43"/>
                </a:solidFill>
              </a:rPr>
              <a:t>Access denied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69737-63FA-44A0-82A0-5760C93E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715125"/>
            <a:ext cx="733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88F"/>
                </a:solidFill>
              </a:defRPr>
            </a:pPr>
            <a:r>
              <a:rPr sz="1650" b="0">
                <a:solidFill>
                  <a:srgbClr val="66788F"/>
                </a:solidFill>
              </a:rPr>
              <a:t>Relevant information exists, but the user’s trusted role cannot access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751A66-3BEB-40B6-BA5F-C73D8D6B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24800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0A765C-57F3-4C28-B600-11906793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0"/>
            <a:ext cx="66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2CA97-DBD2-47CB-8E4E-1C264F35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84391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1842D"/>
                </a:solidFill>
              </a:defRPr>
            </a:pPr>
            <a:r>
              <a:rPr sz="2100" b="1">
                <a:solidFill>
                  <a:srgbClr val="D1842D"/>
                </a:solidFill>
              </a:rPr>
              <a:t>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6D4635-9FB0-48F5-8FC7-101C08F9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8267700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A43"/>
                </a:solidFill>
              </a:defRPr>
            </a:pPr>
            <a:r>
              <a:rPr sz="2325" b="1">
                <a:solidFill>
                  <a:srgbClr val="172A43"/>
                </a:solidFill>
              </a:rPr>
              <a:t>Safe uncertainty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8A710-01F5-49A0-AE75-15A27ADE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8810625"/>
            <a:ext cx="733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88F"/>
                </a:solidFill>
              </a:defRPr>
            </a:pPr>
            <a:r>
              <a:rPr sz="1650" b="0">
                <a:solidFill>
                  <a:srgbClr val="66788F"/>
                </a:solidFill>
              </a:rPr>
              <a:t>Approved evidence is unavailable, so the assistant declines instead of guessing.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F81918-2F3D-4E75-8968-CBCD1719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E5A"/>
                </a:solidFill>
              </a:defRPr>
            </a:pPr>
            <a:r>
              <a:rPr sz="1875" b="1">
                <a:solidFill>
                  <a:srgbClr val="235E5A"/>
                </a:solidFill>
              </a:rPr>
              <a:t>The control is simple to explain to staff — and difficult to bypass accidentally.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9F7F26-3C3B-42DA-AC18-A32287A8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0777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88F"/>
                </a:solidFill>
              </a:defRPr>
            </a:pPr>
            <a:r>
              <a:rPr sz="1125" b="1">
                <a:solidFill>
                  <a:srgbClr val="66788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072289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AD1FFF-7DE4-4B0D-BE6B-0101F2B2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5E5A"/>
                </a:solidFill>
              </a:defRPr>
            </a:pPr>
            <a:r>
              <a:rPr sz="1275" b="1">
                <a:solidFill>
                  <a:srgbClr val="235E5A"/>
                </a:solidFill>
              </a:rPr>
              <a:t>HOW IT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AFBE6-C80E-4144-8869-E0339F6C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915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A43"/>
                </a:solidFill>
              </a:defRPr>
            </a:pPr>
            <a:r>
              <a:rPr sz="3600" b="1">
                <a:solidFill>
                  <a:srgbClr val="172A43"/>
                </a:solidFill>
              </a:rPr>
              <a:t>Identity and access control sit in front of the knowledge 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E6EB3-8C9B-422C-9E88-9BC5415F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788F"/>
                </a:solidFill>
              </a:defRPr>
            </a:pPr>
            <a:r>
              <a:rPr sz="1800" b="0">
                <a:solidFill>
                  <a:srgbClr val="66788F"/>
                </a:solidFill>
              </a:rPr>
              <a:t>The application retrieves only the documents approved for the user’s Entra role.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C1EEE-D758-45D4-8C6E-7FDD632F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81500"/>
            <a:ext cx="49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47D78"/>
                </a:solidFill>
              </a:defRPr>
            </a:pPr>
            <a:r>
              <a:rPr sz="2550" b="1">
                <a:solidFill>
                  <a:srgbClr val="347D78"/>
                </a:solidFill>
              </a:rPr>
              <a:t>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CEE68-0B8C-496F-9CF4-5FD6A11E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6286500"/>
            <a:ext cx="49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47D78"/>
                </a:solidFill>
              </a:defRPr>
            </a:pPr>
            <a:r>
              <a:rPr sz="2550" b="1">
                <a:solidFill>
                  <a:srgbClr val="347D78"/>
                </a:solidFill>
              </a:rPr>
              <a:t>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104B1-4666-4351-BC74-50E5EDB3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8191500"/>
            <a:ext cx="49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47D78"/>
                </a:solidFill>
              </a:defRPr>
            </a:pPr>
            <a:r>
              <a:rPr sz="2550" b="1">
                <a:solidFill>
                  <a:srgbClr val="347D78"/>
                </a:solidFill>
              </a:rPr>
              <a:t>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33660-02EE-4F7D-93AD-1B3D6A53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7096125"/>
            <a:ext cx="495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1842D"/>
                </a:solidFill>
              </a:defRPr>
            </a:pPr>
            <a:r>
              <a:rPr sz="2550" b="1">
                <a:solidFill>
                  <a:srgbClr val="D1842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3416A-CE2B-41A3-8CBB-50D87F67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76625"/>
            <a:ext cx="6953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4D528-6343-434A-8321-AD9D0BB5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814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1  Microsoft Entra ID verifies the user and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8FD91E-6033-4534-B345-AFB49141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381625"/>
            <a:ext cx="6953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1AA62D-1220-4209-84EA-4379599B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864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A43"/>
                </a:solidFill>
              </a:defRPr>
            </a:pPr>
            <a:r>
              <a:rPr sz="2025" b="1">
                <a:solidFill>
                  <a:srgbClr val="172A43"/>
                </a:solidFill>
              </a:rPr>
              <a:t>2  FastAPI checks access before retrieval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3E5FB-8882-4E4A-9014-84452E5C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286625"/>
            <a:ext cx="5334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BA924A-332A-4384-BE30-FD975C9D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5247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5E5A"/>
                </a:solidFill>
              </a:defRPr>
            </a:pPr>
            <a:r>
              <a:rPr sz="1875" b="1">
                <a:solidFill>
                  <a:srgbClr val="235E5A"/>
                </a:solidFill>
              </a:rPr>
              <a:t>3  Private Blob Storage returns approved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27D7FD-6F9B-46E4-AD5E-3F3093D1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934200"/>
            <a:ext cx="1504950" cy="171450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8E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308959-6479-4DE9-82C4-A82E1FB9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73152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7473F"/>
                </a:solidFill>
              </a:defRPr>
            </a:pPr>
            <a:r>
              <a:rPr sz="1725" b="1">
                <a:solidFill>
                  <a:srgbClr val="A7473F"/>
                </a:solidFill>
              </a:rPr>
              <a:t>DENY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07074-64F0-474E-A06C-B5CF7CD2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7810500"/>
            <a:ext cx="104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473F"/>
                </a:solidFill>
              </a:defRPr>
            </a:pPr>
            <a:r>
              <a:rPr sz="1275" b="0">
                <a:solidFill>
                  <a:srgbClr val="A7473F"/>
                </a:solidFill>
              </a:rPr>
              <a:t>No content</a:t>
            </a:r>
          </a:p>
          <a:p xmlns:a="http://schemas.openxmlformats.org/drawingml/2006/main">
            <a:pPr>
              <a:defRPr sz="1275" b="0">
                <a:solidFill>
                  <a:srgbClr val="A7473F"/>
                </a:solidFill>
              </a:defRPr>
            </a:pPr>
            <a:r>
              <a:rPr sz="1275" b="0">
                <a:solidFill>
                  <a:srgbClr val="A7473F"/>
                </a:solidFill>
              </a:rPr>
              <a:t>leaves the</a:t>
            </a:r>
          </a:p>
          <a:p xmlns:a="http://schemas.openxmlformats.org/drawingml/2006/main">
            <a:pPr>
              <a:defRPr sz="1275" b="0">
                <a:solidFill>
                  <a:srgbClr val="A7473F"/>
                </a:solidFill>
              </a:defRPr>
            </a:pPr>
            <a:r>
              <a:rPr sz="1275" b="0">
                <a:solidFill>
                  <a:srgbClr val="A7473F"/>
                </a:solidFill>
              </a:rPr>
              <a:t>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957FC5-B10E-4A11-A049-F1F32874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9191625"/>
            <a:ext cx="6953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F1BE7-B57C-4782-A8EB-19BB14EF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94964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A43"/>
                </a:solidFill>
              </a:defRPr>
            </a:pPr>
            <a:r>
              <a:rPr sz="2025" b="1">
                <a:solidFill>
                  <a:srgbClr val="172A43"/>
                </a:solidFill>
              </a:rPr>
              <a:t>4  The answer includes evidence — or safely abstains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A7896D-80AB-439A-AF97-4EE398FD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0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5A3927-33BC-488B-85F4-00B01B3E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871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35E5A"/>
                </a:solidFill>
              </a:defRPr>
            </a:pPr>
            <a:r>
              <a:rPr sz="1500" b="1">
                <a:solidFill>
                  <a:srgbClr val="235E5A"/>
                </a:solidFill>
              </a:rPr>
              <a:t>Managed identity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9336E8-307A-4ABD-83B7-D2C2BDBD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1287125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88F"/>
                </a:solidFill>
              </a:defRPr>
            </a:pPr>
            <a:r>
              <a:rPr sz="1500" b="0">
                <a:solidFill>
                  <a:srgbClr val="66788F"/>
                </a:solidFill>
              </a:rPr>
              <a:t>No storage password or access key in application 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DF1D95-A0F3-4209-B667-82C5B4C4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0777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88F"/>
                </a:solidFill>
              </a:defRPr>
            </a:pPr>
            <a:r>
              <a:rPr sz="1125" b="1">
                <a:solidFill>
                  <a:srgbClr val="66788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377117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6A4A1A-B722-406A-8EB4-D675D9D3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5E5A"/>
                </a:solidFill>
              </a:defRPr>
            </a:pPr>
            <a:r>
              <a:rPr sz="1275" b="1">
                <a:solidFill>
                  <a:srgbClr val="235E5A"/>
                </a:solidFill>
              </a:rPr>
              <a:t>EVIDENCE OF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94110-8280-4493-9A22-DCA06D61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915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A43"/>
                </a:solidFill>
              </a:defRPr>
            </a:pPr>
            <a:r>
              <a:rPr sz="3600" b="1">
                <a:solidFill>
                  <a:srgbClr val="172A43"/>
                </a:solidFill>
              </a:rPr>
              <a:t>The governance rules are demonstrated — and tested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EC43C-9BB5-47CD-9B8D-447F12C6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788F"/>
                </a:solidFill>
              </a:defRPr>
            </a:pPr>
            <a:r>
              <a:rPr sz="1800" b="0">
                <a:solidFill>
                  <a:srgbClr val="66788F"/>
                </a:solidFill>
              </a:rPr>
              <a:t>The project covers hierarchy, departmental access and an explicit executive exception.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3C478-3A94-470F-BF6A-F3165FB6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CDBAD-A1B1-4721-83F2-14E0E820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47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72A43"/>
                </a:solidFill>
              </a:defRPr>
            </a:pPr>
            <a:r>
              <a:rPr sz="4800" b="1">
                <a:solidFill>
                  <a:srgbClr val="172A43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57905-D9AB-473D-9FBA-77FDC91B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5E5A"/>
                </a:solidFill>
              </a:defRPr>
            </a:pPr>
            <a:r>
              <a:rPr sz="1800" b="1">
                <a:solidFill>
                  <a:srgbClr val="235E5A"/>
                </a:solidFill>
              </a:rPr>
              <a:t>trusted roles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BAD2E-FB53-43FD-9F10-FE7E4172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88F"/>
                </a:solidFill>
              </a:defRPr>
            </a:pPr>
            <a:r>
              <a:rPr sz="1425" b="0">
                <a:solidFill>
                  <a:srgbClr val="66788F"/>
                </a:solidFill>
              </a:rPr>
              <a:t>Employee, manager, senior executive, HR, IT and finance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5CA03-9E29-41E7-998A-5BEFFCEB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005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34B3F-3F8B-453F-A454-A5976F83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76750"/>
            <a:ext cx="247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72A43"/>
                </a:solidFill>
              </a:defRPr>
            </a:pPr>
            <a:r>
              <a:rPr sz="4800" b="1">
                <a:solidFill>
                  <a:srgbClr val="172A43"/>
                </a:solidFill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B40F7-E2DE-468B-B6D2-5317BEF0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72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5E5A"/>
                </a:solidFill>
              </a:defRPr>
            </a:pPr>
            <a:r>
              <a:rPr sz="1800" b="1">
                <a:solidFill>
                  <a:srgbClr val="235E5A"/>
                </a:solidFill>
              </a:rPr>
              <a:t>fictional documents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ECE4C5-411C-4613-A0C0-B745815A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1912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88F"/>
                </a:solidFill>
              </a:defRPr>
            </a:pPr>
            <a:r>
              <a:rPr sz="1425" b="0">
                <a:solidFill>
                  <a:srgbClr val="66788F"/>
                </a:solidFill>
              </a:rPr>
              <a:t>Public, internal, restricted and highly confidential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C1CB5-6784-4D44-A72F-641CC744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005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48579-6F1D-4DC4-AB14-FA53D016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76750"/>
            <a:ext cx="247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72A43"/>
                </a:solidFill>
              </a:defRPr>
            </a:pPr>
            <a:r>
              <a:rPr sz="4800" b="1">
                <a:solidFill>
                  <a:srgbClr val="172A43"/>
                </a:solidFill>
              </a:rPr>
              <a:t>102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B8F4BF-70C6-4986-BC7C-CEEA3900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572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5E5A"/>
                </a:solidFill>
              </a:defRPr>
            </a:pPr>
            <a:r>
              <a:rPr sz="1800" b="1">
                <a:solidFill>
                  <a:srgbClr val="235E5A"/>
                </a:solidFill>
              </a:rPr>
              <a:t>automated 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C1309-1F38-47DF-85E6-ECF2792A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1912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88F"/>
                </a:solidFill>
              </a:defRPr>
            </a:pPr>
            <a:r>
              <a:rPr sz="1425" b="0">
                <a:solidFill>
                  <a:srgbClr val="66788F"/>
                </a:solidFill>
              </a:rPr>
              <a:t>Identity, access, API, Azure adapters and runtime safety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2DC3F2-EF25-4AE0-8FF2-82114200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43875"/>
            <a:ext cx="89154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7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D0C594-F624-4811-9239-1026C8BE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572500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Least privilege still applies at the top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9CA3BF-8E2E-4025-9D29-CF2A6A06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239250"/>
            <a:ext cx="7810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8E4F0"/>
                </a:solidFill>
              </a:defRPr>
            </a:pPr>
            <a:r>
              <a:rPr sz="1725" b="0">
                <a:solidFill>
                  <a:srgbClr val="D8E4F0"/>
                </a:solidFill>
              </a:rPr>
              <a:t>A senior executive can review the financial planning summary — but highly confidential payroll controls remain finance-only.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DAE224-7D35-4D8C-BE0E-CAB911DF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88F"/>
                </a:solidFill>
              </a:defRPr>
            </a:pPr>
            <a:r>
              <a:rPr sz="1500" b="0">
                <a:solidFill>
                  <a:srgbClr val="66788F"/>
                </a:solidFill>
              </a:rPr>
              <a:t>Infrastructure as code · GitHub Actions · Synthetic data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8A115A-EA82-44D1-842B-D45CB4B5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0777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88F"/>
                </a:solidFill>
              </a:defRPr>
            </a:pPr>
            <a:r>
              <a:rPr sz="1125" b="1">
                <a:solidFill>
                  <a:srgbClr val="66788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812247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113575-DDFF-4C07-9FB6-1F521112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5E5A"/>
                </a:solidFill>
              </a:defRPr>
            </a:pPr>
            <a:r>
              <a:rPr sz="1275" b="1">
                <a:solidFill>
                  <a:srgbClr val="235E5A"/>
                </a:solidFill>
              </a:rPr>
              <a:t>WHAT I LEARNED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FEBEC-F314-4633-AF58-777D4869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2A43"/>
                </a:solidFill>
              </a:defRPr>
            </a:pPr>
            <a:r>
              <a:rPr sz="4650" b="1">
                <a:solidFill>
                  <a:srgbClr val="172A43"/>
                </a:solidFill>
              </a:rPr>
              <a:t>Responsible AI is an</a:t>
            </a:r>
          </a:p>
          <a:p xmlns:a="http://schemas.openxmlformats.org/drawingml/2006/main">
            <a:pPr>
              <a:defRPr sz="4650" b="1">
                <a:solidFill>
                  <a:srgbClr val="172A43"/>
                </a:solidFill>
              </a:defRPr>
            </a:pPr>
            <a:r>
              <a:rPr sz="4650" b="1">
                <a:solidFill>
                  <a:srgbClr val="172A43"/>
                </a:solidFill>
              </a:rPr>
              <a:t>architecture choice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36F2D-9DD8-4558-8700-733D9F8E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6788F"/>
                </a:solidFill>
              </a:defRPr>
            </a:pPr>
            <a:r>
              <a:rPr sz="1950" b="0">
                <a:solidFill>
                  <a:srgbClr val="66788F"/>
                </a:solidFill>
              </a:rPr>
              <a:t>The model is only one part of a trustworthy 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BC08C-A5D0-4993-B6C7-A4018ACD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1842D"/>
                </a:solidFill>
              </a:defRPr>
            </a:pPr>
            <a:r>
              <a:rPr sz="1350" b="1">
                <a:solidFill>
                  <a:srgbClr val="D1842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B16C4-57CA-47DB-9BDB-B41A0070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958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A43"/>
                </a:solidFill>
              </a:defRPr>
            </a:pPr>
            <a:r>
              <a:rPr sz="2175" b="1">
                <a:solidFill>
                  <a:srgbClr val="172A43"/>
                </a:solidFill>
              </a:rPr>
              <a:t>Verify identity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BC43F-57AD-44FB-A537-0886550A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88F"/>
                </a:solidFill>
              </a:defRPr>
            </a:pPr>
            <a:r>
              <a:rPr sz="1575" b="0">
                <a:solidFill>
                  <a:srgbClr val="66788F"/>
                </a:solidFill>
              </a:rPr>
              <a:t>Use a trusted organisational role — never a self-selected production persona.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10770-602C-485A-8C24-5C8F0CC6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1842D"/>
                </a:solidFill>
              </a:defRPr>
            </a:pPr>
            <a:r>
              <a:rPr sz="1350" b="1">
                <a:solidFill>
                  <a:srgbClr val="D1842D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524A6-68CF-490B-92E3-CBFAC86E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9056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A43"/>
                </a:solidFill>
              </a:defRPr>
            </a:pPr>
            <a:r>
              <a:rPr sz="2175" b="1">
                <a:solidFill>
                  <a:srgbClr val="172A43"/>
                </a:solidFill>
              </a:rPr>
              <a:t>Filter before retrieval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7971A-5EC0-413D-B407-7EA905E6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4295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88F"/>
                </a:solidFill>
              </a:defRPr>
            </a:pPr>
            <a:r>
              <a:rPr sz="1575" b="0">
                <a:solidFill>
                  <a:srgbClr val="66788F"/>
                </a:solidFill>
              </a:rPr>
              <a:t>Keep unauthorised documents outside the answer-generation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1BFB9-B0F6-4797-B7D9-31F60CDF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1842D"/>
                </a:solidFill>
              </a:defRPr>
            </a:pPr>
            <a:r>
              <a:rPr sz="1350" b="1">
                <a:solidFill>
                  <a:srgbClr val="D1842D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15633E-2FFE-4BFE-A7ED-3C6A69DA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7153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A43"/>
                </a:solidFill>
              </a:defRPr>
            </a:pPr>
            <a:r>
              <a:rPr sz="2175" b="1">
                <a:solidFill>
                  <a:srgbClr val="172A43"/>
                </a:solidFill>
              </a:rPr>
              <a:t>Show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C18C0-70D8-406C-9A60-76012BF0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23925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88F"/>
                </a:solidFill>
              </a:defRPr>
            </a:pPr>
            <a:r>
              <a:rPr sz="1575" b="0">
                <a:solidFill>
                  <a:srgbClr val="66788F"/>
                </a:solidFill>
              </a:rPr>
              <a:t>Citations, denial and safe refusal make the outcome understandable and auditable.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F6BBB-F0F3-4ED0-9BFE-36D73DEC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0"/>
            <a:ext cx="89154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34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25E08B-369B-41FE-A80F-0E02A0A9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9728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Explore the project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9D0879-C68D-4A61-98A4-3606DFF7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10013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github.com/JanithW1996/ai-knowledge-assistant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7C5731-6EFB-45BC-AF0D-F864F898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0777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88F"/>
                </a:solidFill>
              </a:defRPr>
            </a:pPr>
            <a:r>
              <a:rPr sz="1125" b="1">
                <a:solidFill>
                  <a:srgbClr val="66788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29563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2026-08-24T05:12:47.4490000Z</dcterms:created>
  <dcterms:modified xsi:type="dcterms:W3CDTF">2026-08-24T05:12:47.4490000Z</dcterms:modified>
</coreProperties>
</file>